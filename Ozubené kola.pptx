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7" r:id="rId2"/>
    <p:sldId id="258" r:id="rId3"/>
    <p:sldId id="266" r:id="rId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0A6E"/>
    <a:srgbClr val="DC1E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řední styl 2 – zvýraznění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A107856-5554-42FB-B03E-39F5DBC370BA}" styleName="Střední styl 4 – zvýraznění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0505E3EF-67EA-436B-97B2-0124C06EBD24}" styleName="Střední styl 4 – zvýraznění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94"/>
  </p:normalViewPr>
  <p:slideViewPr>
    <p:cSldViewPr snapToGrid="0" snapToObjects="1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719473-8AE6-DB44-8C01-7E49E799EED7}" type="datetimeFigureOut">
              <a:rPr lang="cs-CZ" smtClean="0"/>
              <a:t>15.06.2026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0F4AC8-67EF-164B-A167-43B4C7E9AD96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59282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98040A-D554-C639-7F6A-E03E8CF1A8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5196362-DACD-9B59-594F-E9292FB3E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A460E5E-EBE7-CE8E-C7F3-AA5145B34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A2C1-A39E-2641-BD1F-8F081F7263AC}" type="datetimeFigureOut">
              <a:rPr lang="cs-CZ" smtClean="0"/>
              <a:t>15.06.2026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701930F-5369-AA1F-DEC3-91F1D08423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DB81DEE-D00D-E2C3-6CD6-155B64C27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23C04-7F26-1745-979D-A03241489B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765571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C36CB5A-ED2D-9FBC-1B13-03ECC5A3D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60B1A58-69CF-AD58-F7D2-E0A61BF23B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5A1E92C-173E-B473-434D-929CD7BF4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A2C1-A39E-2641-BD1F-8F081F7263AC}" type="datetimeFigureOut">
              <a:rPr lang="cs-CZ" smtClean="0"/>
              <a:t>15.06.2026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8D779BD7-361A-8F66-93D8-40F8C8402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B445E8F9-BF68-F35C-97EB-2B8A22675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23C04-7F26-1745-979D-A03241489B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154342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214331-039C-7BB2-597F-58B600FC3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B031A62F-610B-D6E4-825B-E86332DB9E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64CFA550-0485-7A47-2DA4-A924EAA98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A2C1-A39E-2641-BD1F-8F081F7263AC}" type="datetimeFigureOut">
              <a:rPr lang="cs-CZ" smtClean="0"/>
              <a:t>15.06.2026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41C2E52-E47A-BF25-E904-634547D1C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1EB3D8D-9EB8-7990-2CF1-9397242B6C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23C04-7F26-1745-979D-A03241489B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96803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D092AA0-AB6D-54BB-1E13-1AA90F552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7505649-909A-1485-693E-FC4720AA77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5832EDC-4A94-FCB5-DB66-A880FFD720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470D69C-7007-F88B-CF35-80737BEADA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A2C1-A39E-2641-BD1F-8F081F7263AC}" type="datetimeFigureOut">
              <a:rPr lang="cs-CZ" smtClean="0"/>
              <a:t>15.06.2026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12FB1ED-E5C4-0818-B877-8EF105779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993F0584-1395-A7A0-A5D1-FDC8FF55D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23C04-7F26-1745-979D-A03241489B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996187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84ABB2-45ED-FD9D-4088-910E91DC4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AF1C665-5CF8-CFB9-D27B-1951736A7F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D6174CD4-1EE5-F16F-89C5-A3DA327661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71E224C7-FD78-B888-7A73-0E7BA12829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5B54799E-AD93-790A-C406-16456176C1F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1BB6DAFD-3149-D0EF-0F72-343DDEAD87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A2C1-A39E-2641-BD1F-8F081F7263AC}" type="datetimeFigureOut">
              <a:rPr lang="cs-CZ" smtClean="0"/>
              <a:t>15.06.2026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DF006898-6458-7661-6E36-566D88DCF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56239DFC-8BF6-A83A-36F1-2CFDB690E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23C04-7F26-1745-979D-A03241489B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2642271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A7C47E-FF25-65ED-1C3C-772BA0D8A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3A3E1683-0507-2BB9-039C-C8FE15E06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A2C1-A39E-2641-BD1F-8F081F7263AC}" type="datetimeFigureOut">
              <a:rPr lang="cs-CZ" smtClean="0"/>
              <a:t>15.06.2026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0919732-0816-9323-6B16-A4068B4627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A2265AD3-97F3-1790-83E4-D674E642C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23C04-7F26-1745-979D-A03241489B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48758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43F9AA28-C644-AD32-C835-271751F66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A2C1-A39E-2641-BD1F-8F081F7263AC}" type="datetimeFigureOut">
              <a:rPr lang="cs-CZ" smtClean="0"/>
              <a:t>15.06.2026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30DFEDF5-65EC-80DE-9C79-AE2D6C15C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36A2ABF5-9EE4-9C5A-E55B-DFBF2079E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23C04-7F26-1745-979D-A03241489B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04386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5AEDD2-286A-9C4B-23E2-A79E9FC54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F836769-5A85-E646-B10F-60911D3BC1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CC48803-8848-E6AA-BD00-019DE76475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94DB121-48A5-A1A3-7F62-153DF78E5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A2C1-A39E-2641-BD1F-8F081F7263AC}" type="datetimeFigureOut">
              <a:rPr lang="cs-CZ" smtClean="0"/>
              <a:t>15.06.2026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C30E5636-C85D-315F-D85B-B4A065BB0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3C2E9A1E-6457-3955-6FC4-1B531B7C8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23C04-7F26-1745-979D-A03241489B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02748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9D5706-AF5A-63A4-D41B-96986632F1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4663CE11-D2D9-1D90-986D-916E296EC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86483029-B66D-26E0-FCCD-F488FC18E6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44E19AA1-A9BB-6761-9939-58B3F81110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A2C1-A39E-2641-BD1F-8F081F7263AC}" type="datetimeFigureOut">
              <a:rPr lang="cs-CZ" smtClean="0"/>
              <a:t>15.06.2026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0071D01-FC50-882A-7104-C9EF0A0A9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561F812D-8058-B44C-E815-09C70DAD1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23C04-7F26-1745-979D-A03241489B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94422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4AD259A-FA76-3D42-9F66-975E0D7DA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A550C38C-F3A4-6A1E-75FB-8F71D250CD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4A1B5B7-7DF8-9E11-0005-0CAB817B46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A2C1-A39E-2641-BD1F-8F081F7263AC}" type="datetimeFigureOut">
              <a:rPr lang="cs-CZ" smtClean="0"/>
              <a:t>15.06.2026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BB37148-D237-C8B8-9493-FB6D81E4A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7BC271F-51A4-1D75-EB52-0312550EC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23C04-7F26-1745-979D-A03241489B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6604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24E3F08-B37E-33C7-A55D-4790905302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9CE00937-44CF-AE1D-4F16-7E0F7A4A9C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DED39AB-A50B-0A88-DB7C-AA7E9447D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F1A2C1-A39E-2641-BD1F-8F081F7263AC}" type="datetimeFigureOut">
              <a:rPr lang="cs-CZ" smtClean="0"/>
              <a:t>15.06.2026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1B318B22-A6A7-583A-FA86-3051C907D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4F6FA4F-F3CF-AB66-3564-FF1E6DA7D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123C04-7F26-1745-979D-A03241489B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4726340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BC40E033-648E-8F8E-9EEE-93504DB52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97A862A-8C34-C969-1407-FAA0A5BCAB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09B0F5B-7346-BF0F-E939-F58DC12E1F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F1A2C1-A39E-2641-BD1F-8F081F7263AC}" type="datetimeFigureOut">
              <a:rPr lang="cs-CZ" smtClean="0"/>
              <a:t>15.06.2026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2C7DCBB-73B3-344A-184E-5DCF587287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0019387-FBB6-B9AC-7FD4-45928CB7A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123C04-7F26-1745-979D-A03241489BD7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07104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ovéPole 8">
            <a:extLst>
              <a:ext uri="{FF2B5EF4-FFF2-40B4-BE49-F238E27FC236}">
                <a16:creationId xmlns:a16="http://schemas.microsoft.com/office/drawing/2014/main" id="{6ED31792-54D9-B0E9-E509-F837DDA3853B}"/>
              </a:ext>
            </a:extLst>
          </p:cNvPr>
          <p:cNvSpPr txBox="1"/>
          <p:nvPr/>
        </p:nvSpPr>
        <p:spPr>
          <a:xfrm>
            <a:off x="602523" y="518998"/>
            <a:ext cx="4101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b="1" dirty="0">
                <a:solidFill>
                  <a:srgbClr val="DC1E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Aktuální situace</a:t>
            </a: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FC9E9E21-8B1D-95C6-0E57-22D7E05C6230}"/>
              </a:ext>
            </a:extLst>
          </p:cNvPr>
          <p:cNvSpPr txBox="1"/>
          <p:nvPr/>
        </p:nvSpPr>
        <p:spPr>
          <a:xfrm>
            <a:off x="496388" y="1597487"/>
            <a:ext cx="10768331" cy="13410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DC1E1E"/>
              </a:buClr>
              <a:buSzPct val="150000"/>
              <a:buFont typeface="Wingdings" pitchFamily="2" charset="2"/>
              <a:buChar char="§"/>
            </a:pPr>
            <a:r>
              <a:rPr lang="cs-CZ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Najít ideální pozici šedých kol aby do sebe zapadli zuby</a:t>
            </a:r>
          </a:p>
          <a:p>
            <a:pPr marL="285750" indent="-285750">
              <a:lnSpc>
                <a:spcPct val="150000"/>
              </a:lnSpc>
              <a:buClr>
                <a:srgbClr val="DC1E1E"/>
              </a:buClr>
              <a:buSzPct val="150000"/>
              <a:buFont typeface="Wingdings" pitchFamily="2" charset="2"/>
              <a:buChar char="§"/>
            </a:pPr>
            <a:r>
              <a:rPr lang="cs-CZ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Nelze vycházet pouze s roztečných kružnic</a:t>
            </a:r>
          </a:p>
          <a:p>
            <a:pPr marL="285750" indent="-285750">
              <a:lnSpc>
                <a:spcPct val="150000"/>
              </a:lnSpc>
              <a:buClr>
                <a:srgbClr val="DC1E1E"/>
              </a:buClr>
              <a:buSzPct val="150000"/>
              <a:buFont typeface="Wingdings" pitchFamily="2" charset="2"/>
              <a:buChar char="§"/>
            </a:pPr>
            <a:r>
              <a:rPr lang="cs-CZ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Výsledné řešení by mělo fungovat pro obecné podmínky </a:t>
            </a:r>
          </a:p>
          <a:p>
            <a:pPr>
              <a:lnSpc>
                <a:spcPct val="150000"/>
              </a:lnSpc>
              <a:buClr>
                <a:srgbClr val="DC1E1E"/>
              </a:buClr>
              <a:buSzPct val="150000"/>
            </a:pPr>
            <a:r>
              <a:rPr lang="cs-CZ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Zadání (Z1 , Z2,m) – výsledek by měl být úhel alfa, definující žlutý trojúhelník 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D04CBFCD-2011-E9BF-67DF-AC77139D25DD}"/>
              </a:ext>
            </a:extLst>
          </p:cNvPr>
          <p:cNvSpPr txBox="1"/>
          <p:nvPr/>
        </p:nvSpPr>
        <p:spPr>
          <a:xfrm>
            <a:off x="496388" y="1333238"/>
            <a:ext cx="1425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Problematika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24F25468-C795-AB7B-EAC4-E1733C51AD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7742" y="957293"/>
            <a:ext cx="3633214" cy="4778822"/>
          </a:xfrm>
          <a:prstGeom prst="rect">
            <a:avLst/>
          </a:prstGeom>
        </p:spPr>
      </p:pic>
      <p:sp>
        <p:nvSpPr>
          <p:cNvPr id="6" name="TextovéPole 5">
            <a:extLst>
              <a:ext uri="{FF2B5EF4-FFF2-40B4-BE49-F238E27FC236}">
                <a16:creationId xmlns:a16="http://schemas.microsoft.com/office/drawing/2014/main" id="{8813677A-1D28-63F6-581F-0CECC66C309D}"/>
              </a:ext>
            </a:extLst>
          </p:cNvPr>
          <p:cNvSpPr txBox="1"/>
          <p:nvPr/>
        </p:nvSpPr>
        <p:spPr>
          <a:xfrm>
            <a:off x="8065009" y="1861428"/>
            <a:ext cx="5394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dirty="0">
                <a:solidFill>
                  <a:schemeClr val="bg1"/>
                </a:solidFill>
              </a:rPr>
              <a:t>Z1</a:t>
            </a:r>
          </a:p>
        </p:txBody>
      </p:sp>
      <p:sp>
        <p:nvSpPr>
          <p:cNvPr id="10" name="TextovéPole 9">
            <a:extLst>
              <a:ext uri="{FF2B5EF4-FFF2-40B4-BE49-F238E27FC236}">
                <a16:creationId xmlns:a16="http://schemas.microsoft.com/office/drawing/2014/main" id="{68E91DF4-C8B4-FE63-4617-F85988DE0DDF}"/>
              </a:ext>
            </a:extLst>
          </p:cNvPr>
          <p:cNvSpPr txBox="1"/>
          <p:nvPr/>
        </p:nvSpPr>
        <p:spPr>
          <a:xfrm>
            <a:off x="8334756" y="4323326"/>
            <a:ext cx="443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800" dirty="0">
                <a:solidFill>
                  <a:schemeClr val="bg1"/>
                </a:solidFill>
              </a:rPr>
              <a:t>Z2</a:t>
            </a:r>
          </a:p>
        </p:txBody>
      </p:sp>
      <p:sp>
        <p:nvSpPr>
          <p:cNvPr id="12" name="TextovéPole 11">
            <a:extLst>
              <a:ext uri="{FF2B5EF4-FFF2-40B4-BE49-F238E27FC236}">
                <a16:creationId xmlns:a16="http://schemas.microsoft.com/office/drawing/2014/main" id="{8638C94A-A432-FDE9-54E7-7C779408C096}"/>
              </a:ext>
            </a:extLst>
          </p:cNvPr>
          <p:cNvSpPr txBox="1"/>
          <p:nvPr/>
        </p:nvSpPr>
        <p:spPr>
          <a:xfrm>
            <a:off x="8999220" y="5051798"/>
            <a:ext cx="443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800" dirty="0">
                <a:solidFill>
                  <a:schemeClr val="bg1"/>
                </a:solidFill>
              </a:rPr>
              <a:t>Z2</a:t>
            </a:r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FF43AE5F-120F-C7D9-4297-BC533518651A}"/>
              </a:ext>
            </a:extLst>
          </p:cNvPr>
          <p:cNvSpPr txBox="1"/>
          <p:nvPr/>
        </p:nvSpPr>
        <p:spPr>
          <a:xfrm>
            <a:off x="9703308" y="4338566"/>
            <a:ext cx="443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cs-CZ" sz="1800" dirty="0">
                <a:solidFill>
                  <a:schemeClr val="bg1"/>
                </a:solidFill>
              </a:rPr>
              <a:t>Z2</a:t>
            </a:r>
          </a:p>
        </p:txBody>
      </p:sp>
      <p:grpSp>
        <p:nvGrpSpPr>
          <p:cNvPr id="53" name="Skupina 52">
            <a:extLst>
              <a:ext uri="{FF2B5EF4-FFF2-40B4-BE49-F238E27FC236}">
                <a16:creationId xmlns:a16="http://schemas.microsoft.com/office/drawing/2014/main" id="{E62700B6-2BE4-69DF-4673-62C106FFDB80}"/>
              </a:ext>
            </a:extLst>
          </p:cNvPr>
          <p:cNvGrpSpPr/>
          <p:nvPr/>
        </p:nvGrpSpPr>
        <p:grpSpPr>
          <a:xfrm>
            <a:off x="15019179" y="-6470948"/>
            <a:ext cx="5858104" cy="6296891"/>
            <a:chOff x="3313328" y="307270"/>
            <a:chExt cx="5858104" cy="6296891"/>
          </a:xfrm>
        </p:grpSpPr>
        <p:grpSp>
          <p:nvGrpSpPr>
            <p:cNvPr id="50" name="Skupina 49">
              <a:extLst>
                <a:ext uri="{FF2B5EF4-FFF2-40B4-BE49-F238E27FC236}">
                  <a16:creationId xmlns:a16="http://schemas.microsoft.com/office/drawing/2014/main" id="{70CF2328-273D-8F62-90F9-0BEA2D587D34}"/>
                </a:ext>
              </a:extLst>
            </p:cNvPr>
            <p:cNvGrpSpPr/>
            <p:nvPr/>
          </p:nvGrpSpPr>
          <p:grpSpPr>
            <a:xfrm>
              <a:off x="3313328" y="307270"/>
              <a:ext cx="5858104" cy="6296891"/>
              <a:chOff x="3313328" y="307270"/>
              <a:chExt cx="5858104" cy="6296891"/>
            </a:xfrm>
          </p:grpSpPr>
          <p:pic>
            <p:nvPicPr>
              <p:cNvPr id="15" name="Obrázek 14">
                <a:extLst>
                  <a:ext uri="{FF2B5EF4-FFF2-40B4-BE49-F238E27FC236}">
                    <a16:creationId xmlns:a16="http://schemas.microsoft.com/office/drawing/2014/main" id="{D7D20FAD-C34B-83F3-37AE-7A3BB118088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rcRect l="16670" t="636" r="13163" b="636"/>
              <a:stretch>
                <a:fillRect/>
              </a:stretch>
            </p:blipFill>
            <p:spPr>
              <a:xfrm>
                <a:off x="3313328" y="307270"/>
                <a:ext cx="5858104" cy="6243460"/>
              </a:xfrm>
              <a:prstGeom prst="rect">
                <a:avLst/>
              </a:prstGeom>
            </p:spPr>
          </p:pic>
          <p:sp>
            <p:nvSpPr>
              <p:cNvPr id="35" name="Oblouk 34">
                <a:extLst>
                  <a:ext uri="{FF2B5EF4-FFF2-40B4-BE49-F238E27FC236}">
                    <a16:creationId xmlns:a16="http://schemas.microsoft.com/office/drawing/2014/main" id="{F38355D3-1F11-4521-54B8-AEB4FDED33DE}"/>
                  </a:ext>
                </a:extLst>
              </p:cNvPr>
              <p:cNvSpPr/>
              <p:nvPr/>
            </p:nvSpPr>
            <p:spPr>
              <a:xfrm rot="2262220">
                <a:off x="4080107" y="4307480"/>
                <a:ext cx="996622" cy="996622"/>
              </a:xfrm>
              <a:prstGeom prst="arc">
                <a:avLst>
                  <a:gd name="adj1" fmla="val 16030973"/>
                  <a:gd name="adj2" fmla="val 0"/>
                </a:avLst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  <p:sp>
            <p:nvSpPr>
              <p:cNvPr id="36" name="Oblouk 35">
                <a:extLst>
                  <a:ext uri="{FF2B5EF4-FFF2-40B4-BE49-F238E27FC236}">
                    <a16:creationId xmlns:a16="http://schemas.microsoft.com/office/drawing/2014/main" id="{26DFF7F5-9A14-C516-501E-E864CD73B9AA}"/>
                  </a:ext>
                </a:extLst>
              </p:cNvPr>
              <p:cNvSpPr/>
              <p:nvPr/>
            </p:nvSpPr>
            <p:spPr>
              <a:xfrm rot="17691803">
                <a:off x="5486481" y="5607539"/>
                <a:ext cx="996622" cy="996622"/>
              </a:xfrm>
              <a:prstGeom prst="arc">
                <a:avLst>
                  <a:gd name="adj1" fmla="val 16845281"/>
                  <a:gd name="adj2" fmla="val 0"/>
                </a:avLst>
              </a:prstGeom>
              <a:ln w="3810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cs-CZ"/>
              </a:p>
            </p:txBody>
          </p:sp>
        </p:grpSp>
        <p:grpSp>
          <p:nvGrpSpPr>
            <p:cNvPr id="46" name="Skupina 45">
              <a:extLst>
                <a:ext uri="{FF2B5EF4-FFF2-40B4-BE49-F238E27FC236}">
                  <a16:creationId xmlns:a16="http://schemas.microsoft.com/office/drawing/2014/main" id="{8EA616C6-C1B5-C392-6B20-828DEE87B9AB}"/>
                </a:ext>
              </a:extLst>
            </p:cNvPr>
            <p:cNvGrpSpPr/>
            <p:nvPr/>
          </p:nvGrpSpPr>
          <p:grpSpPr>
            <a:xfrm>
              <a:off x="4681728" y="307270"/>
              <a:ext cx="3035808" cy="6130106"/>
              <a:chOff x="4681728" y="307270"/>
              <a:chExt cx="3035808" cy="6130106"/>
            </a:xfrm>
          </p:grpSpPr>
          <p:cxnSp>
            <p:nvCxnSpPr>
              <p:cNvPr id="33" name="Přímá spojnice 32">
                <a:extLst>
                  <a:ext uri="{FF2B5EF4-FFF2-40B4-BE49-F238E27FC236}">
                    <a16:creationId xmlns:a16="http://schemas.microsoft.com/office/drawing/2014/main" id="{76E481C2-1A9E-363C-8547-29F2E3CB6F27}"/>
                  </a:ext>
                </a:extLst>
              </p:cNvPr>
              <p:cNvCxnSpPr>
                <a:cxnSpLocks/>
                <a:stCxn id="15" idx="0"/>
              </p:cNvCxnSpPr>
              <p:nvPr/>
            </p:nvCxnSpPr>
            <p:spPr>
              <a:xfrm flipH="1">
                <a:off x="6181344" y="307270"/>
                <a:ext cx="61036" cy="611181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5" name="Skupina 44">
                <a:extLst>
                  <a:ext uri="{FF2B5EF4-FFF2-40B4-BE49-F238E27FC236}">
                    <a16:creationId xmlns:a16="http://schemas.microsoft.com/office/drawing/2014/main" id="{D6E1BA67-233D-1F14-18F2-136CDAEFEC92}"/>
                  </a:ext>
                </a:extLst>
              </p:cNvPr>
              <p:cNvGrpSpPr/>
              <p:nvPr/>
            </p:nvGrpSpPr>
            <p:grpSpPr>
              <a:xfrm>
                <a:off x="4681728" y="307270"/>
                <a:ext cx="3035808" cy="6130106"/>
                <a:chOff x="4681728" y="307270"/>
                <a:chExt cx="3035808" cy="6130106"/>
              </a:xfrm>
            </p:grpSpPr>
            <p:sp>
              <p:nvSpPr>
                <p:cNvPr id="37" name="TextovéPole 36">
                  <a:extLst>
                    <a:ext uri="{FF2B5EF4-FFF2-40B4-BE49-F238E27FC236}">
                      <a16:creationId xmlns:a16="http://schemas.microsoft.com/office/drawing/2014/main" id="{346F03B0-4935-7BA7-F3F8-C2C5B61E16F3}"/>
                    </a:ext>
                  </a:extLst>
                </p:cNvPr>
                <p:cNvSpPr txBox="1"/>
                <p:nvPr/>
              </p:nvSpPr>
              <p:spPr>
                <a:xfrm>
                  <a:off x="5865232" y="1597487"/>
                  <a:ext cx="31611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l-GR" dirty="0">
                      <a:solidFill>
                        <a:schemeClr val="bg1"/>
                      </a:solidFill>
                    </a:rPr>
                    <a:t>α</a:t>
                  </a:r>
                  <a:endParaRPr lang="cs-CZ" dirty="0">
                    <a:solidFill>
                      <a:schemeClr val="bg1"/>
                    </a:solidFill>
                  </a:endParaRPr>
                </a:p>
              </p:txBody>
            </p:sp>
            <p:grpSp>
              <p:nvGrpSpPr>
                <p:cNvPr id="44" name="Skupina 43">
                  <a:extLst>
                    <a:ext uri="{FF2B5EF4-FFF2-40B4-BE49-F238E27FC236}">
                      <a16:creationId xmlns:a16="http://schemas.microsoft.com/office/drawing/2014/main" id="{2B8D4C14-D420-34B3-5B9C-0FFD309CA586}"/>
                    </a:ext>
                  </a:extLst>
                </p:cNvPr>
                <p:cNvGrpSpPr/>
                <p:nvPr/>
              </p:nvGrpSpPr>
              <p:grpSpPr>
                <a:xfrm>
                  <a:off x="4681728" y="307270"/>
                  <a:ext cx="3035808" cy="6130106"/>
                  <a:chOff x="4681728" y="307270"/>
                  <a:chExt cx="3035808" cy="6130106"/>
                </a:xfrm>
              </p:grpSpPr>
              <p:grpSp>
                <p:nvGrpSpPr>
                  <p:cNvPr id="43" name="Skupina 42">
                    <a:extLst>
                      <a:ext uri="{FF2B5EF4-FFF2-40B4-BE49-F238E27FC236}">
                        <a16:creationId xmlns:a16="http://schemas.microsoft.com/office/drawing/2014/main" id="{E222048D-62C1-CC25-A6C0-C5BC01BA7B33}"/>
                      </a:ext>
                    </a:extLst>
                  </p:cNvPr>
                  <p:cNvGrpSpPr/>
                  <p:nvPr/>
                </p:nvGrpSpPr>
                <p:grpSpPr>
                  <a:xfrm>
                    <a:off x="4681728" y="307270"/>
                    <a:ext cx="3035808" cy="6130106"/>
                    <a:chOff x="4681728" y="307270"/>
                    <a:chExt cx="3035808" cy="6130106"/>
                  </a:xfrm>
                </p:grpSpPr>
                <p:grpSp>
                  <p:nvGrpSpPr>
                    <p:cNvPr id="42" name="Skupina 41">
                      <a:extLst>
                        <a:ext uri="{FF2B5EF4-FFF2-40B4-BE49-F238E27FC236}">
                          <a16:creationId xmlns:a16="http://schemas.microsoft.com/office/drawing/2014/main" id="{1B19F707-64CA-6EC9-D1E7-657B7539395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4681728" y="307270"/>
                      <a:ext cx="3035808" cy="6130106"/>
                      <a:chOff x="4681728" y="307270"/>
                      <a:chExt cx="3035808" cy="6130106"/>
                    </a:xfrm>
                  </p:grpSpPr>
                  <p:grpSp>
                    <p:nvGrpSpPr>
                      <p:cNvPr id="41" name="Skupina 40">
                        <a:extLst>
                          <a:ext uri="{FF2B5EF4-FFF2-40B4-BE49-F238E27FC236}">
                            <a16:creationId xmlns:a16="http://schemas.microsoft.com/office/drawing/2014/main" id="{59546343-50E8-0352-63CE-0E3747A1494B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4681728" y="307270"/>
                        <a:ext cx="3035808" cy="6130106"/>
                        <a:chOff x="4681728" y="307270"/>
                        <a:chExt cx="3035808" cy="6130106"/>
                      </a:xfrm>
                    </p:grpSpPr>
                    <p:cxnSp>
                      <p:nvCxnSpPr>
                        <p:cNvPr id="17" name="Přímá spojnice 16">
                          <a:extLst>
                            <a:ext uri="{FF2B5EF4-FFF2-40B4-BE49-F238E27FC236}">
                              <a16:creationId xmlns:a16="http://schemas.microsoft.com/office/drawing/2014/main" id="{641A715A-E4DC-4140-D7E8-432B560EB270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>
                          <a:off x="4681728" y="320040"/>
                          <a:ext cx="1572768" cy="4544568"/>
                        </a:xfrm>
                        <a:prstGeom prst="line">
                          <a:avLst/>
                        </a:prstGeom>
                        <a:ln w="38100">
                          <a:solidFill>
                            <a:srgbClr val="FFFF00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1" name="Přímá spojnice 20">
                          <a:extLst>
                            <a:ext uri="{FF2B5EF4-FFF2-40B4-BE49-F238E27FC236}">
                              <a16:creationId xmlns:a16="http://schemas.microsoft.com/office/drawing/2014/main" id="{5A4CDC10-75DD-459C-022E-C58EEF42E8A4}"/>
                            </a:ext>
                          </a:extLst>
                        </p:cNvPr>
                        <p:cNvCxnSpPr>
                          <a:cxnSpLocks/>
                          <a:stCxn id="15" idx="0"/>
                        </p:cNvCxnSpPr>
                        <p:nvPr/>
                      </p:nvCxnSpPr>
                      <p:spPr>
                        <a:xfrm>
                          <a:off x="6242380" y="307270"/>
                          <a:ext cx="1456868" cy="4548194"/>
                        </a:xfrm>
                        <a:prstGeom prst="line">
                          <a:avLst/>
                        </a:prstGeom>
                        <a:ln w="38100">
                          <a:solidFill>
                            <a:srgbClr val="FFFF00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5" name="Přímá spojnice 24">
                          <a:extLst>
                            <a:ext uri="{FF2B5EF4-FFF2-40B4-BE49-F238E27FC236}">
                              <a16:creationId xmlns:a16="http://schemas.microsoft.com/office/drawing/2014/main" id="{56A67C6A-68E7-D07D-BF8A-612267BDF14F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H="1" flipV="1">
                          <a:off x="4700016" y="4873752"/>
                          <a:ext cx="1472184" cy="1563624"/>
                        </a:xfrm>
                        <a:prstGeom prst="line">
                          <a:avLst/>
                        </a:prstGeom>
                        <a:ln w="38100">
                          <a:solidFill>
                            <a:srgbClr val="FFFF00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29" name="Přímá spojnice 28">
                          <a:extLst>
                            <a:ext uri="{FF2B5EF4-FFF2-40B4-BE49-F238E27FC236}">
                              <a16:creationId xmlns:a16="http://schemas.microsoft.com/office/drawing/2014/main" id="{3F30C475-F6DC-CBF0-3446-045096A816ED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6181344" y="4864608"/>
                          <a:ext cx="1536192" cy="1572768"/>
                        </a:xfrm>
                        <a:prstGeom prst="line">
                          <a:avLst/>
                        </a:prstGeom>
                        <a:ln w="38100">
                          <a:solidFill>
                            <a:srgbClr val="FFFF00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  <p:sp>
                    <p:nvSpPr>
                      <p:cNvPr id="34" name="Oblouk 33">
                        <a:extLst>
                          <a:ext uri="{FF2B5EF4-FFF2-40B4-BE49-F238E27FC236}">
                            <a16:creationId xmlns:a16="http://schemas.microsoft.com/office/drawing/2014/main" id="{162DB0CD-FEF5-E10E-E286-C0B2E2B2F4FD}"/>
                          </a:ext>
                        </a:extLst>
                      </p:cNvPr>
                      <p:cNvSpPr/>
                      <p:nvPr/>
                    </p:nvSpPr>
                    <p:spPr>
                      <a:xfrm rot="9234759">
                        <a:off x="5716387" y="1351150"/>
                        <a:ext cx="702840" cy="702840"/>
                      </a:xfrm>
                      <a:prstGeom prst="arc">
                        <a:avLst/>
                      </a:prstGeom>
                      <a:ln w="38100">
                        <a:solidFill>
                          <a:schemeClr val="bg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cs-CZ" dirty="0"/>
                      </a:p>
                    </p:txBody>
                  </p:sp>
                </p:grpSp>
                <p:sp>
                  <p:nvSpPr>
                    <p:cNvPr id="38" name="TextovéPole 37">
                      <a:extLst>
                        <a:ext uri="{FF2B5EF4-FFF2-40B4-BE49-F238E27FC236}">
                          <a16:creationId xmlns:a16="http://schemas.microsoft.com/office/drawing/2014/main" id="{9DAEC484-9E95-CC49-CA39-A55184FB866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824242" y="5728988"/>
                      <a:ext cx="30809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l-GR" dirty="0">
                          <a:solidFill>
                            <a:schemeClr val="bg1"/>
                          </a:solidFill>
                        </a:rPr>
                        <a:t>β</a:t>
                      </a:r>
                      <a:endParaRPr lang="cs-CZ" dirty="0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sp>
                <p:nvSpPr>
                  <p:cNvPr id="39" name="TextovéPole 38">
                    <a:extLst>
                      <a:ext uri="{FF2B5EF4-FFF2-40B4-BE49-F238E27FC236}">
                        <a16:creationId xmlns:a16="http://schemas.microsoft.com/office/drawing/2014/main" id="{9C39F601-FA30-9F27-3328-D5682EE9B439}"/>
                      </a:ext>
                    </a:extLst>
                  </p:cNvPr>
                  <p:cNvSpPr txBox="1"/>
                  <p:nvPr/>
                </p:nvSpPr>
                <p:spPr>
                  <a:xfrm>
                    <a:off x="4745611" y="4621125"/>
                    <a:ext cx="28725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l-GR" dirty="0">
                        <a:solidFill>
                          <a:schemeClr val="bg1"/>
                        </a:solidFill>
                      </a:rPr>
                      <a:t>γ</a:t>
                    </a:r>
                    <a:endParaRPr lang="cs-CZ" dirty="0">
                      <a:solidFill>
                        <a:schemeClr val="bg1"/>
                      </a:solidFill>
                    </a:endParaRPr>
                  </a:p>
                </p:txBody>
              </p:sp>
            </p:grpSp>
          </p:grpSp>
        </p:grpSp>
      </p:grpSp>
      <p:pic>
        <p:nvPicPr>
          <p:cNvPr id="52" name="Obrázek 51">
            <a:extLst>
              <a:ext uri="{FF2B5EF4-FFF2-40B4-BE49-F238E27FC236}">
                <a16:creationId xmlns:a16="http://schemas.microsoft.com/office/drawing/2014/main" id="{74B1DF8B-2039-CFEA-6859-25F9E2CBB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41252" y="3194928"/>
            <a:ext cx="3179716" cy="3496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9302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Obrázek 17">
            <a:extLst>
              <a:ext uri="{FF2B5EF4-FFF2-40B4-BE49-F238E27FC236}">
                <a16:creationId xmlns:a16="http://schemas.microsoft.com/office/drawing/2014/main" id="{0CB9729E-29AA-C865-34A7-76E4E8C500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0384"/>
          <a:stretch>
            <a:fillRect/>
          </a:stretch>
        </p:blipFill>
        <p:spPr>
          <a:xfrm>
            <a:off x="8622301" y="715605"/>
            <a:ext cx="3285660" cy="4312366"/>
          </a:xfrm>
          <a:prstGeom prst="rect">
            <a:avLst/>
          </a:prstGeom>
        </p:spPr>
      </p:pic>
      <p:pic>
        <p:nvPicPr>
          <p:cNvPr id="36" name="Obrázek 35">
            <a:extLst>
              <a:ext uri="{FF2B5EF4-FFF2-40B4-BE49-F238E27FC236}">
                <a16:creationId xmlns:a16="http://schemas.microsoft.com/office/drawing/2014/main" id="{8BDE4250-1C8C-0B19-E46A-02849DD2C9FA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957" b="90043" l="9362" r="89362">
                        <a14:foregroundMark x1="44681" y1="90043" x2="44681" y2="90043"/>
                        <a14:foregroundMark x1="54043" y1="89177" x2="54043" y2="89177"/>
                        <a14:foregroundMark x1="37447" y1="90043" x2="37447" y2="90043"/>
                        <a14:backgroundMark x1="26809" y1="22078" x2="26809" y2="22078"/>
                        <a14:backgroundMark x1="33617" y1="16883" x2="33617" y2="16883"/>
                        <a14:backgroundMark x1="64255" y1="16017" x2="64255" y2="16017"/>
                        <a14:backgroundMark x1="81277" y1="30736" x2="81277" y2="30736"/>
                        <a14:backgroundMark x1="85957" y1="53680" x2="85957" y2="53680"/>
                        <a14:backgroundMark x1="83830" y1="62338" x2="83830" y2="62338"/>
                        <a14:backgroundMark x1="71489" y1="80952" x2="71489" y2="80952"/>
                        <a14:backgroundMark x1="64681" y1="83983" x2="64681" y2="83983"/>
                        <a14:backgroundMark x1="35319" y1="84848" x2="35319" y2="84848"/>
                        <a14:backgroundMark x1="17447" y1="70563" x2="17447" y2="70563"/>
                        <a14:backgroundMark x1="12340" y1="48052" x2="12340" y2="48052"/>
                        <a14:backgroundMark x1="13191" y1="40693" x2="13191" y2="40693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43904">
            <a:off x="10204130" y="2941458"/>
            <a:ext cx="1467426" cy="1442450"/>
          </a:xfrm>
          <a:prstGeom prst="rect">
            <a:avLst/>
          </a:prstGeom>
        </p:spPr>
      </p:pic>
      <p:sp>
        <p:nvSpPr>
          <p:cNvPr id="9" name="TextovéPole 8">
            <a:extLst>
              <a:ext uri="{FF2B5EF4-FFF2-40B4-BE49-F238E27FC236}">
                <a16:creationId xmlns:a16="http://schemas.microsoft.com/office/drawing/2014/main" id="{6ED31792-54D9-B0E9-E509-F837DDA3853B}"/>
              </a:ext>
            </a:extLst>
          </p:cNvPr>
          <p:cNvSpPr txBox="1"/>
          <p:nvPr/>
        </p:nvSpPr>
        <p:spPr>
          <a:xfrm>
            <a:off x="602523" y="491827"/>
            <a:ext cx="4101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b="1" dirty="0">
                <a:solidFill>
                  <a:srgbClr val="DC1E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Předpoklad řešení</a:t>
            </a: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FC9E9E21-8B1D-95C6-0E57-22D7E05C6230}"/>
              </a:ext>
            </a:extLst>
          </p:cNvPr>
          <p:cNvSpPr txBox="1"/>
          <p:nvPr/>
        </p:nvSpPr>
        <p:spPr>
          <a:xfrm>
            <a:off x="491662" y="1191653"/>
            <a:ext cx="5486400" cy="4942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DC1E1E"/>
              </a:buClr>
              <a:buSzPct val="150000"/>
              <a:buFont typeface="Wingdings" pitchFamily="2" charset="2"/>
              <a:buChar char="§"/>
            </a:pPr>
            <a:r>
              <a:rPr lang="cs-CZ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Vycházíme z předpokladu že pro nulový úhel alfa soukolí funguje (dvě kola se překrývají) a zubové mezery naproti sobě obr.1</a:t>
            </a:r>
          </a:p>
          <a:p>
            <a:pPr marL="285750" indent="-285750">
              <a:lnSpc>
                <a:spcPct val="150000"/>
              </a:lnSpc>
              <a:buClr>
                <a:srgbClr val="DC1E1E"/>
              </a:buClr>
              <a:buSzPct val="150000"/>
              <a:buFont typeface="Wingdings" pitchFamily="2" charset="2"/>
              <a:buChar char="§"/>
            </a:pPr>
            <a:r>
              <a:rPr lang="cs-CZ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Poté musíme kolo 1 odvalovat doleva po (DP1) přitom dochází k rotaci kola 2 (řešíme pouze jednu stranu druhá je symetrická).</a:t>
            </a:r>
          </a:p>
          <a:p>
            <a:pPr marL="285750" indent="-285750">
              <a:lnSpc>
                <a:spcPct val="150000"/>
              </a:lnSpc>
              <a:buClr>
                <a:srgbClr val="DC1E1E"/>
              </a:buClr>
              <a:buSzPct val="150000"/>
              <a:buFont typeface="Wingdings" pitchFamily="2" charset="2"/>
              <a:buChar char="§"/>
            </a:pPr>
            <a:r>
              <a:rPr lang="cs-CZ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 rotaci kola 1 o alfa je kolo 2 </a:t>
            </a:r>
            <a:r>
              <a:rPr lang="cs-CZ" sz="14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vyosené</a:t>
            </a:r>
            <a:r>
              <a:rPr lang="cs-CZ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mimo žlutou středovou osu a musíme ho rotovat o úhel epsilon, a opět dojde k rotaci kola 2</a:t>
            </a:r>
          </a:p>
          <a:p>
            <a:pPr marL="285750" indent="-285750">
              <a:lnSpc>
                <a:spcPct val="150000"/>
              </a:lnSpc>
              <a:buClr>
                <a:srgbClr val="DC1E1E"/>
              </a:buClr>
              <a:buSzPct val="150000"/>
              <a:buFont typeface="Wingdings" pitchFamily="2" charset="2"/>
              <a:buChar char="§"/>
            </a:pPr>
            <a:r>
              <a:rPr lang="cs-CZ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 výpočtu všech uhlů se spočítají odvalované oblouky a finální rotace kola 2  </a:t>
            </a:r>
            <a:r>
              <a:rPr lang="el-G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φ</a:t>
            </a:r>
            <a:endParaRPr lang="cs-CZ" sz="14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DC1E1E"/>
              </a:buClr>
              <a:buSzPct val="150000"/>
              <a:buFont typeface="Wingdings" pitchFamily="2" charset="2"/>
              <a:buChar char="§"/>
            </a:pPr>
            <a:r>
              <a:rPr lang="cs-CZ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Musíme ovšem počítat i s relativním náklonem OK bez rotace o Alfa a Epsilon. Výsledné natočení bude tedy </a:t>
            </a:r>
            <a:r>
              <a:rPr lang="el-G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φ</a:t>
            </a:r>
            <a:r>
              <a:rPr lang="cs-CZ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c=</a:t>
            </a:r>
            <a:r>
              <a:rPr lang="el-G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φ</a:t>
            </a:r>
            <a:r>
              <a:rPr lang="cs-CZ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l-G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α</a:t>
            </a:r>
            <a:r>
              <a:rPr lang="cs-CZ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+</a:t>
            </a:r>
            <a:r>
              <a:rPr lang="el-GR" sz="16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ε</a:t>
            </a:r>
            <a:r>
              <a:rPr lang="el-GR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l-GR" sz="1400" dirty="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α</a:t>
            </a:r>
            <a:endParaRPr lang="cs-CZ" sz="14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Clr>
                <a:srgbClr val="DC1E1E"/>
              </a:buClr>
              <a:buSzPct val="150000"/>
              <a:buFont typeface="Wingdings" pitchFamily="2" charset="2"/>
              <a:buChar char="§"/>
            </a:pPr>
            <a:r>
              <a:rPr lang="cs-CZ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Toto finální natočení musí být dělitelné úhlovou roztečí zubů. Tento podíl musí vyjít celé nebo půlené číslo př: (12 ; 12,5)</a:t>
            </a:r>
          </a:p>
        </p:txBody>
      </p:sp>
      <p:grpSp>
        <p:nvGrpSpPr>
          <p:cNvPr id="14" name="Skupina 13">
            <a:extLst>
              <a:ext uri="{FF2B5EF4-FFF2-40B4-BE49-F238E27FC236}">
                <a16:creationId xmlns:a16="http://schemas.microsoft.com/office/drawing/2014/main" id="{7879E651-0CD1-EF48-62E4-5632BBC89A6D}"/>
              </a:ext>
            </a:extLst>
          </p:cNvPr>
          <p:cNvGrpSpPr/>
          <p:nvPr/>
        </p:nvGrpSpPr>
        <p:grpSpPr>
          <a:xfrm>
            <a:off x="12495812" y="284360"/>
            <a:ext cx="2764226" cy="4250930"/>
            <a:chOff x="8257187" y="684410"/>
            <a:chExt cx="2764226" cy="4250930"/>
          </a:xfrm>
        </p:grpSpPr>
        <p:pic>
          <p:nvPicPr>
            <p:cNvPr id="3" name="Obrázek 2">
              <a:extLst>
                <a:ext uri="{FF2B5EF4-FFF2-40B4-BE49-F238E27FC236}">
                  <a16:creationId xmlns:a16="http://schemas.microsoft.com/office/drawing/2014/main" id="{22B9251B-F2CB-2669-8C5F-CCE967076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57187" y="684410"/>
              <a:ext cx="2764226" cy="4250930"/>
            </a:xfrm>
            <a:prstGeom prst="rect">
              <a:avLst/>
            </a:prstGeom>
          </p:spPr>
        </p:pic>
        <p:cxnSp>
          <p:nvCxnSpPr>
            <p:cNvPr id="5" name="Přímá spojnice 4">
              <a:extLst>
                <a:ext uri="{FF2B5EF4-FFF2-40B4-BE49-F238E27FC236}">
                  <a16:creationId xmlns:a16="http://schemas.microsoft.com/office/drawing/2014/main" id="{953F1264-9563-49D6-88B1-C46D05016E56}"/>
                </a:ext>
              </a:extLst>
            </p:cNvPr>
            <p:cNvCxnSpPr/>
            <p:nvPr/>
          </p:nvCxnSpPr>
          <p:spPr>
            <a:xfrm>
              <a:off x="9734550" y="981075"/>
              <a:ext cx="0" cy="379095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TextovéPole 6">
              <a:extLst>
                <a:ext uri="{FF2B5EF4-FFF2-40B4-BE49-F238E27FC236}">
                  <a16:creationId xmlns:a16="http://schemas.microsoft.com/office/drawing/2014/main" id="{B697EF77-6C87-6F4D-2884-683A5E323C74}"/>
                </a:ext>
              </a:extLst>
            </p:cNvPr>
            <p:cNvSpPr txBox="1"/>
            <p:nvPr/>
          </p:nvSpPr>
          <p:spPr>
            <a:xfrm>
              <a:off x="9384873" y="2225159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1</a:t>
              </a:r>
            </a:p>
          </p:txBody>
        </p:sp>
        <p:sp>
          <p:nvSpPr>
            <p:cNvPr id="10" name="TextovéPole 9">
              <a:extLst>
                <a:ext uri="{FF2B5EF4-FFF2-40B4-BE49-F238E27FC236}">
                  <a16:creationId xmlns:a16="http://schemas.microsoft.com/office/drawing/2014/main" id="{B44689CC-086B-E7F1-E34D-A75F3F3F5E53}"/>
                </a:ext>
              </a:extLst>
            </p:cNvPr>
            <p:cNvSpPr txBox="1"/>
            <p:nvPr/>
          </p:nvSpPr>
          <p:spPr>
            <a:xfrm>
              <a:off x="9356664" y="3598567"/>
              <a:ext cx="301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cs-CZ" dirty="0"/>
                <a:t>2</a:t>
              </a:r>
            </a:p>
          </p:txBody>
        </p:sp>
      </p:grpSp>
      <p:pic>
        <p:nvPicPr>
          <p:cNvPr id="13" name="Obrázek 12">
            <a:extLst>
              <a:ext uri="{FF2B5EF4-FFF2-40B4-BE49-F238E27FC236}">
                <a16:creationId xmlns:a16="http://schemas.microsoft.com/office/drawing/2014/main" id="{5D57930A-C3F2-6581-F91F-70201542675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0780" y="715605"/>
            <a:ext cx="2543530" cy="3896269"/>
          </a:xfrm>
          <a:prstGeom prst="rect">
            <a:avLst/>
          </a:prstGeom>
        </p:spPr>
      </p:pic>
      <p:cxnSp>
        <p:nvCxnSpPr>
          <p:cNvPr id="19" name="Přímá spojnice 18">
            <a:extLst>
              <a:ext uri="{FF2B5EF4-FFF2-40B4-BE49-F238E27FC236}">
                <a16:creationId xmlns:a16="http://schemas.microsoft.com/office/drawing/2014/main" id="{F74987B4-D071-308E-32ED-1FF41391189F}"/>
              </a:ext>
            </a:extLst>
          </p:cNvPr>
          <p:cNvCxnSpPr/>
          <p:nvPr/>
        </p:nvCxnSpPr>
        <p:spPr>
          <a:xfrm>
            <a:off x="10925175" y="1076602"/>
            <a:ext cx="0" cy="3790950"/>
          </a:xfrm>
          <a:prstGeom prst="line">
            <a:avLst/>
          </a:prstGeom>
          <a:ln w="38100">
            <a:solidFill>
              <a:srgbClr val="FF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Přímá spojnice 19">
            <a:extLst>
              <a:ext uri="{FF2B5EF4-FFF2-40B4-BE49-F238E27FC236}">
                <a16:creationId xmlns:a16="http://schemas.microsoft.com/office/drawing/2014/main" id="{6D6BA8BC-CC09-8B27-7346-CC918A536B6C}"/>
              </a:ext>
            </a:extLst>
          </p:cNvPr>
          <p:cNvCxnSpPr>
            <a:cxnSpLocks/>
          </p:cNvCxnSpPr>
          <p:nvPr/>
        </p:nvCxnSpPr>
        <p:spPr>
          <a:xfrm flipH="1">
            <a:off x="9525000" y="1076602"/>
            <a:ext cx="1400175" cy="3019148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ovéPole 25">
            <a:extLst>
              <a:ext uri="{FF2B5EF4-FFF2-40B4-BE49-F238E27FC236}">
                <a16:creationId xmlns:a16="http://schemas.microsoft.com/office/drawing/2014/main" id="{1A22EB2F-47D3-505B-A571-7E2E6452B696}"/>
              </a:ext>
            </a:extLst>
          </p:cNvPr>
          <p:cNvSpPr txBox="1"/>
          <p:nvPr/>
        </p:nvSpPr>
        <p:spPr>
          <a:xfrm>
            <a:off x="10590892" y="1786906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chemeClr val="bg1"/>
                </a:solidFill>
              </a:rPr>
              <a:t>α</a:t>
            </a:r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27" name="Oblouk 26">
            <a:extLst>
              <a:ext uri="{FF2B5EF4-FFF2-40B4-BE49-F238E27FC236}">
                <a16:creationId xmlns:a16="http://schemas.microsoft.com/office/drawing/2014/main" id="{1024309D-0C08-4B56-C70F-990D62AA3111}"/>
              </a:ext>
            </a:extLst>
          </p:cNvPr>
          <p:cNvSpPr/>
          <p:nvPr/>
        </p:nvSpPr>
        <p:spPr>
          <a:xfrm rot="9234759">
            <a:off x="10442047" y="1540569"/>
            <a:ext cx="702840" cy="702840"/>
          </a:xfrm>
          <a:prstGeom prst="arc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cxnSp>
        <p:nvCxnSpPr>
          <p:cNvPr id="29" name="Přímá spojnice 28">
            <a:extLst>
              <a:ext uri="{FF2B5EF4-FFF2-40B4-BE49-F238E27FC236}">
                <a16:creationId xmlns:a16="http://schemas.microsoft.com/office/drawing/2014/main" id="{AC191DE3-32DB-597F-5464-3027F4F079B4}"/>
              </a:ext>
            </a:extLst>
          </p:cNvPr>
          <p:cNvCxnSpPr>
            <a:cxnSpLocks/>
          </p:cNvCxnSpPr>
          <p:nvPr/>
        </p:nvCxnSpPr>
        <p:spPr>
          <a:xfrm flipH="1" flipV="1">
            <a:off x="10037832" y="3045021"/>
            <a:ext cx="887343" cy="620830"/>
          </a:xfrm>
          <a:prstGeom prst="line">
            <a:avLst/>
          </a:prstGeom>
          <a:ln w="38100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ovéPole 29">
            <a:extLst>
              <a:ext uri="{FF2B5EF4-FFF2-40B4-BE49-F238E27FC236}">
                <a16:creationId xmlns:a16="http://schemas.microsoft.com/office/drawing/2014/main" id="{B7D9AE27-838B-8A42-FAE1-B4D97F7B77EF}"/>
              </a:ext>
            </a:extLst>
          </p:cNvPr>
          <p:cNvSpPr txBox="1"/>
          <p:nvPr/>
        </p:nvSpPr>
        <p:spPr>
          <a:xfrm rot="20259306">
            <a:off x="9912788" y="3100023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chemeClr val="bg1"/>
                </a:solidFill>
              </a:rPr>
              <a:t>ε</a:t>
            </a:r>
            <a:endParaRPr lang="cs-CZ" dirty="0">
              <a:solidFill>
                <a:schemeClr val="bg1"/>
              </a:solidFill>
            </a:endParaRPr>
          </a:p>
        </p:txBody>
      </p:sp>
      <p:sp>
        <p:nvSpPr>
          <p:cNvPr id="31" name="Oblouk 30">
            <a:extLst>
              <a:ext uri="{FF2B5EF4-FFF2-40B4-BE49-F238E27FC236}">
                <a16:creationId xmlns:a16="http://schemas.microsoft.com/office/drawing/2014/main" id="{BD2EB1BD-E0B1-DEE9-788D-3DB95DE3B683}"/>
              </a:ext>
            </a:extLst>
          </p:cNvPr>
          <p:cNvSpPr/>
          <p:nvPr/>
        </p:nvSpPr>
        <p:spPr>
          <a:xfrm rot="7894065">
            <a:off x="9732068" y="2767962"/>
            <a:ext cx="702840" cy="702840"/>
          </a:xfrm>
          <a:prstGeom prst="arc">
            <a:avLst>
              <a:gd name="adj1" fmla="val 15434412"/>
              <a:gd name="adj2" fmla="val 0"/>
            </a:avLst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34" name="TextovéPole 33">
            <a:extLst>
              <a:ext uri="{FF2B5EF4-FFF2-40B4-BE49-F238E27FC236}">
                <a16:creationId xmlns:a16="http://schemas.microsoft.com/office/drawing/2014/main" id="{F0732633-D985-FFAE-2CD7-0E7FCCB68335}"/>
              </a:ext>
            </a:extLst>
          </p:cNvPr>
          <p:cNvSpPr txBox="1"/>
          <p:nvPr/>
        </p:nvSpPr>
        <p:spPr>
          <a:xfrm>
            <a:off x="9131270" y="3905250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2</a:t>
            </a: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E5E8EF4A-B27C-E13E-8FED-CD80000E3465}"/>
              </a:ext>
            </a:extLst>
          </p:cNvPr>
          <p:cNvSpPr txBox="1"/>
          <p:nvPr/>
        </p:nvSpPr>
        <p:spPr>
          <a:xfrm>
            <a:off x="9951641" y="4547378"/>
            <a:ext cx="743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Obr. 2</a:t>
            </a:r>
          </a:p>
        </p:txBody>
      </p:sp>
      <p:sp>
        <p:nvSpPr>
          <p:cNvPr id="4" name="TextovéPole 3">
            <a:extLst>
              <a:ext uri="{FF2B5EF4-FFF2-40B4-BE49-F238E27FC236}">
                <a16:creationId xmlns:a16="http://schemas.microsoft.com/office/drawing/2014/main" id="{A7A638B0-AA26-C1F6-B913-A8E3BCB716D9}"/>
              </a:ext>
            </a:extLst>
          </p:cNvPr>
          <p:cNvSpPr txBox="1"/>
          <p:nvPr/>
        </p:nvSpPr>
        <p:spPr>
          <a:xfrm>
            <a:off x="7334486" y="4547378"/>
            <a:ext cx="743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dirty="0"/>
              <a:t>Obr. 1</a:t>
            </a:r>
          </a:p>
        </p:txBody>
      </p:sp>
      <p:sp>
        <p:nvSpPr>
          <p:cNvPr id="6" name="Šipka: zahnutá nahoru 5">
            <a:extLst>
              <a:ext uri="{FF2B5EF4-FFF2-40B4-BE49-F238E27FC236}">
                <a16:creationId xmlns:a16="http://schemas.microsoft.com/office/drawing/2014/main" id="{C590C61E-3BBB-3B36-8F1E-153BCE88AA8D}"/>
              </a:ext>
            </a:extLst>
          </p:cNvPr>
          <p:cNvSpPr/>
          <p:nvPr/>
        </p:nvSpPr>
        <p:spPr>
          <a:xfrm>
            <a:off x="10748948" y="3789634"/>
            <a:ext cx="415483" cy="182332"/>
          </a:xfrm>
          <a:prstGeom prst="curved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>
              <a:solidFill>
                <a:schemeClr val="tx1"/>
              </a:solidFill>
            </a:endParaRP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E1E28EC3-675D-32B8-CE16-37F368A40669}"/>
              </a:ext>
            </a:extLst>
          </p:cNvPr>
          <p:cNvSpPr txBox="1"/>
          <p:nvPr/>
        </p:nvSpPr>
        <p:spPr>
          <a:xfrm>
            <a:off x="10987571" y="3315250"/>
            <a:ext cx="7630668" cy="451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Clr>
                <a:srgbClr val="DC1E1E"/>
              </a:buClr>
              <a:buSzPct val="150000"/>
            </a:pPr>
            <a:r>
              <a:rPr lang="el-GR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φ</a:t>
            </a:r>
            <a:endParaRPr lang="cs-CZ" sz="18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19012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DBBA5-439B-FEF6-15A1-8AEA8F3EB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ovéPole 8">
            <a:extLst>
              <a:ext uri="{FF2B5EF4-FFF2-40B4-BE49-F238E27FC236}">
                <a16:creationId xmlns:a16="http://schemas.microsoft.com/office/drawing/2014/main" id="{415E0CE4-0456-7ACA-78F0-B48AC05E5F98}"/>
              </a:ext>
            </a:extLst>
          </p:cNvPr>
          <p:cNvSpPr txBox="1"/>
          <p:nvPr/>
        </p:nvSpPr>
        <p:spPr>
          <a:xfrm>
            <a:off x="602523" y="491827"/>
            <a:ext cx="410173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b="1" dirty="0">
                <a:solidFill>
                  <a:srgbClr val="DC1E1E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Numerické řešení</a:t>
            </a:r>
          </a:p>
        </p:txBody>
      </p:sp>
      <p:sp>
        <p:nvSpPr>
          <p:cNvPr id="11" name="TextovéPole 10">
            <a:extLst>
              <a:ext uri="{FF2B5EF4-FFF2-40B4-BE49-F238E27FC236}">
                <a16:creationId xmlns:a16="http://schemas.microsoft.com/office/drawing/2014/main" id="{BE519774-E02A-548E-E715-654E198DEF82}"/>
              </a:ext>
            </a:extLst>
          </p:cNvPr>
          <p:cNvSpPr txBox="1"/>
          <p:nvPr/>
        </p:nvSpPr>
        <p:spPr>
          <a:xfrm>
            <a:off x="496389" y="1421836"/>
            <a:ext cx="5486400" cy="1664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rgbClr val="DC1E1E"/>
              </a:buClr>
              <a:buSzPct val="150000"/>
              <a:buFont typeface="Wingdings" pitchFamily="2" charset="2"/>
              <a:buChar char="§"/>
            </a:pPr>
            <a:r>
              <a:rPr lang="cs-CZ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Jelikož se asi nedá najít analytické řešení museli jsme udělat program který interpoluje mezi úhly Alfa max a Alfa min</a:t>
            </a:r>
          </a:p>
          <a:p>
            <a:pPr marL="285750" indent="-285750">
              <a:lnSpc>
                <a:spcPct val="150000"/>
              </a:lnSpc>
              <a:buClr>
                <a:srgbClr val="DC1E1E"/>
              </a:buClr>
              <a:buSzPct val="150000"/>
              <a:buFont typeface="Wingdings" pitchFamily="2" charset="2"/>
              <a:buChar char="§"/>
            </a:pPr>
            <a:r>
              <a:rPr lang="cs-CZ" sz="14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V programu jsou poté schovány všechny výpočty týkající úhlu a geometrie ozubení. Poté dochází k interpolaci a program počítá a hledá výsledky v daném intervalu Alfa</a:t>
            </a:r>
          </a:p>
        </p:txBody>
      </p:sp>
      <p:sp>
        <p:nvSpPr>
          <p:cNvPr id="31" name="Oblouk 30">
            <a:extLst>
              <a:ext uri="{FF2B5EF4-FFF2-40B4-BE49-F238E27FC236}">
                <a16:creationId xmlns:a16="http://schemas.microsoft.com/office/drawing/2014/main" id="{2D25165A-E688-A423-FE60-0E81862B431E}"/>
              </a:ext>
            </a:extLst>
          </p:cNvPr>
          <p:cNvSpPr/>
          <p:nvPr/>
        </p:nvSpPr>
        <p:spPr>
          <a:xfrm rot="7894065">
            <a:off x="9732068" y="2767962"/>
            <a:ext cx="702840" cy="702840"/>
          </a:xfrm>
          <a:prstGeom prst="arc">
            <a:avLst>
              <a:gd name="adj1" fmla="val 15434412"/>
              <a:gd name="adj2" fmla="val 0"/>
            </a:avLst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6" name="TextovéPole 5">
            <a:extLst>
              <a:ext uri="{FF2B5EF4-FFF2-40B4-BE49-F238E27FC236}">
                <a16:creationId xmlns:a16="http://schemas.microsoft.com/office/drawing/2014/main" id="{2BC21A7E-3A64-D580-BE1C-1D382C216422}"/>
              </a:ext>
            </a:extLst>
          </p:cNvPr>
          <p:cNvSpPr txBox="1"/>
          <p:nvPr/>
        </p:nvSpPr>
        <p:spPr>
          <a:xfrm>
            <a:off x="9030432" y="1397739"/>
            <a:ext cx="7083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chemeClr val="bg1"/>
                </a:solidFill>
              </a:rPr>
              <a:t>α</a:t>
            </a:r>
            <a:r>
              <a:rPr lang="cs-CZ" dirty="0">
                <a:solidFill>
                  <a:schemeClr val="bg1"/>
                </a:solidFill>
              </a:rPr>
              <a:t>max</a:t>
            </a:r>
          </a:p>
        </p:txBody>
      </p:sp>
      <p:sp>
        <p:nvSpPr>
          <p:cNvPr id="12" name="Oblouk 11">
            <a:extLst>
              <a:ext uri="{FF2B5EF4-FFF2-40B4-BE49-F238E27FC236}">
                <a16:creationId xmlns:a16="http://schemas.microsoft.com/office/drawing/2014/main" id="{50DC75BE-DB14-136A-EA1A-DBF8DE2DB957}"/>
              </a:ext>
            </a:extLst>
          </p:cNvPr>
          <p:cNvSpPr/>
          <p:nvPr/>
        </p:nvSpPr>
        <p:spPr>
          <a:xfrm rot="9234759">
            <a:off x="8918046" y="1151402"/>
            <a:ext cx="702840" cy="702840"/>
          </a:xfrm>
          <a:prstGeom prst="arc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A5FF415F-D6C1-2888-9346-D36CC68C48F0}"/>
              </a:ext>
            </a:extLst>
          </p:cNvPr>
          <p:cNvSpPr txBox="1"/>
          <p:nvPr/>
        </p:nvSpPr>
        <p:spPr>
          <a:xfrm>
            <a:off x="6324811" y="4002643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l-GR" dirty="0">
                <a:solidFill>
                  <a:schemeClr val="bg1"/>
                </a:solidFill>
              </a:rPr>
              <a:t>α</a:t>
            </a:r>
            <a:r>
              <a:rPr lang="cs-CZ" dirty="0">
                <a:solidFill>
                  <a:schemeClr val="bg1"/>
                </a:solidFill>
              </a:rPr>
              <a:t>min</a:t>
            </a:r>
          </a:p>
        </p:txBody>
      </p:sp>
      <p:sp>
        <p:nvSpPr>
          <p:cNvPr id="21" name="Oblouk 20">
            <a:extLst>
              <a:ext uri="{FF2B5EF4-FFF2-40B4-BE49-F238E27FC236}">
                <a16:creationId xmlns:a16="http://schemas.microsoft.com/office/drawing/2014/main" id="{72A0FF3C-1A1C-DB2D-D5E4-CF5531AA6E55}"/>
              </a:ext>
            </a:extLst>
          </p:cNvPr>
          <p:cNvSpPr/>
          <p:nvPr/>
        </p:nvSpPr>
        <p:spPr>
          <a:xfrm rot="7244339">
            <a:off x="6113036" y="4020554"/>
            <a:ext cx="702840" cy="702840"/>
          </a:xfrm>
          <a:prstGeom prst="arc">
            <a:avLst>
              <a:gd name="adj1" fmla="val 18751488"/>
              <a:gd name="adj2" fmla="val 0"/>
            </a:avLst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cs-CZ" dirty="0"/>
          </a:p>
        </p:txBody>
      </p:sp>
      <p:pic>
        <p:nvPicPr>
          <p:cNvPr id="23" name="Obrázek 22">
            <a:extLst>
              <a:ext uri="{FF2B5EF4-FFF2-40B4-BE49-F238E27FC236}">
                <a16:creationId xmlns:a16="http://schemas.microsoft.com/office/drawing/2014/main" id="{DEC0F0AE-BEA0-24B0-30F1-B1DDEAB2B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2897" y="504530"/>
            <a:ext cx="3209912" cy="2446718"/>
          </a:xfrm>
          <a:prstGeom prst="rect">
            <a:avLst/>
          </a:prstGeom>
        </p:spPr>
      </p:pic>
      <p:pic>
        <p:nvPicPr>
          <p:cNvPr id="25" name="Obrázek 24">
            <a:extLst>
              <a:ext uri="{FF2B5EF4-FFF2-40B4-BE49-F238E27FC236}">
                <a16:creationId xmlns:a16="http://schemas.microsoft.com/office/drawing/2014/main" id="{A6E00D4F-64CC-4FE9-C914-50EB82DE18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97107" y="396577"/>
            <a:ext cx="3000794" cy="2676899"/>
          </a:xfrm>
          <a:prstGeom prst="rect">
            <a:avLst/>
          </a:prstGeom>
        </p:spPr>
      </p:pic>
      <p:pic>
        <p:nvPicPr>
          <p:cNvPr id="35" name="Obrázek 34">
            <a:extLst>
              <a:ext uri="{FF2B5EF4-FFF2-40B4-BE49-F238E27FC236}">
                <a16:creationId xmlns:a16="http://schemas.microsoft.com/office/drawing/2014/main" id="{20512853-7AB8-6B7F-5593-BE2BCA113C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3414" y="3288532"/>
            <a:ext cx="4526328" cy="3064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175692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22916</TotalTime>
  <Words>265</Words>
  <Application>Microsoft Office PowerPoint</Application>
  <PresentationFormat>Widescreen</PresentationFormat>
  <Paragraphs>33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Tahoma</vt:lpstr>
      <vt:lpstr>Wingdings</vt:lpstr>
      <vt:lpstr>Motiv Office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Grafik LESENSKY.CZ</dc:creator>
  <cp:lastModifiedBy>Vratislav Malý</cp:lastModifiedBy>
  <cp:revision>14</cp:revision>
  <dcterms:created xsi:type="dcterms:W3CDTF">2022-07-29T13:22:36Z</dcterms:created>
  <dcterms:modified xsi:type="dcterms:W3CDTF">2026-06-15T11:31:25Z</dcterms:modified>
</cp:coreProperties>
</file>